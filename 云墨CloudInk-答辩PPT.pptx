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32F2F"/>
          </a:solidFill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云墨 CloudInk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7680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DBDB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基于 Android 原生的多模态手写排版与数字笔记应用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108960"/>
            <a:ext cx="2743200" cy="0"/>
          </a:xfrm>
          <a:prstGeom prst="line">
            <a:avLst/>
          </a:prstGeom>
          <a:noFill/>
          <a:ln w="25400">
            <a:solidFill>
              <a:srgbClr val="D32F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474720"/>
            <a:ext cx="45720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DBDB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答辩人：喻文卓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BDBDB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指导老师：邱杰凡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BDBDB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2026年6月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0" y="1828800"/>
            <a:ext cx="3657600" cy="2743200"/>
          </a:xfrm>
          <a:prstGeom prst="rect">
            <a:avLst/>
          </a:prstGeom>
          <a:solidFill>
            <a:srgbClr val="1A237E"/>
          </a:solidFill>
          <a:ln w="12700">
            <a:solidFill>
              <a:srgbClr val="BDBDBD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57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[待替换：应用图标 + 首页截图，居中放置]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5F0E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4" name="Text 2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3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项目背景与目的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840480" cy="3291840"/>
          </a:xfrm>
          <a:prstGeom prst="rect">
            <a:avLst/>
          </a:prstGeom>
          <a:solidFill>
            <a:srgbClr val="FFF3E0"/>
          </a:solidFill>
        </p:spPr>
      </p:sp>
      <p:sp>
        <p:nvSpPr>
          <p:cNvPr id="6" name="Shape 4"/>
          <p:cNvSpPr/>
          <p:nvPr/>
        </p:nvSpPr>
        <p:spPr>
          <a:xfrm>
            <a:off x="548640" y="1280160"/>
            <a:ext cx="3840480" cy="54864"/>
          </a:xfrm>
          <a:prstGeom prst="rect">
            <a:avLst/>
          </a:prstGeom>
          <a:solidFill>
            <a:srgbClr val="D32F2F"/>
          </a:solidFill>
        </p:spPr>
      </p:sp>
      <p:sp>
        <p:nvSpPr>
          <p:cNvPr id="7" name="Text 5"/>
          <p:cNvSpPr/>
          <p:nvPr/>
        </p:nvSpPr>
        <p:spPr>
          <a:xfrm>
            <a:off x="731520" y="146304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32F2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痛点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347472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现有手写模拟软件多为网页封装，移动端卡顿，无法整合系统底层功能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资料阅读、音频采集、OCR提取、排版渲染各自独立，用户体验割裂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缺乏导入→识别→手写排版→导出全链路闭环工具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840480" cy="3291840"/>
          </a:xfrm>
          <a:prstGeom prst="rect">
            <a:avLst/>
          </a:prstGeom>
          <a:solidFill>
            <a:srgbClr val="E8EAF6"/>
          </a:solidFill>
        </p:spPr>
      </p:sp>
      <p:sp>
        <p:nvSpPr>
          <p:cNvPr id="10" name="Shape 8"/>
          <p:cNvSpPr/>
          <p:nvPr/>
        </p:nvSpPr>
        <p:spPr>
          <a:xfrm>
            <a:off x="4754880" y="1280160"/>
            <a:ext cx="3840480" cy="54864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11" name="Text 9"/>
          <p:cNvSpPr/>
          <p:nvPr/>
        </p:nvSpPr>
        <p:spPr>
          <a:xfrm>
            <a:off x="4937760" y="146304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3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目标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37760" y="2103120"/>
            <a:ext cx="347472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打造导入-识别-手写排版-导出全链路闭环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深度集成 Android 原生生态（CameraX / PdfRenderer / SpeechRecognizer）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自研 Canvas 手写渲染引擎，替代 WebView 方案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0" y="46634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57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[待替换：首页功能台 HomeFragment 截图]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5F0E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4" name="Text 2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3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技术栈总览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548640" y="1188720"/>
          <a:ext cx="5029200" cy="3474720"/>
        </p:xfrm>
        <a:graphic>
          <a:graphicData uri="http://schemas.openxmlformats.org/drawingml/2006/table">
            <a:tbl>
              <a:tblPr/>
              <a:tblGrid>
                <a:gridCol w="1463040"/>
                <a:gridCol w="3566160"/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237E"/>
                          </a:solidFill>
                        </a:rPr>
                        <a:t>架构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MVVM（ViewModel + LiveData + DataBinding）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237E"/>
                          </a:solidFill>
                        </a:rPr>
                        <a:t>数据库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Room（v4，5 表，3 次增量迁移）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237E"/>
                          </a:solidFill>
                        </a:rPr>
                        <a:t>偏好存储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Jetpack DataStore（RxJava3，11 Key）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237E"/>
                          </a:solidFill>
                        </a:rPr>
                        <a:t>组件通信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EventBus（greenrobot）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237E"/>
                          </a:solidFill>
                        </a:rPr>
                        <a:t>PDF渲染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原生 PdfRenderer（零第三方库）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237E"/>
                          </a:solidFill>
                        </a:rPr>
                        <a:t>相机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CameraX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237E"/>
                          </a:solidFill>
                        </a:rPr>
                        <a:t>语音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SpeechRecognizer + 百度 ASR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237E"/>
                          </a:solidFill>
                        </a:rPr>
                        <a:t>OCR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百度云端 + Tesseract 离线双引擎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237E"/>
                          </a:solidFill>
                        </a:rPr>
                        <a:t>导出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MediaStore + PdfDocument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237E"/>
                          </a:solidFill>
                        </a:rPr>
                        <a:t>UI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Material Design 3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943600" y="1371600"/>
            <a:ext cx="2743200" cy="3200400"/>
          </a:xfrm>
          <a:prstGeom prst="rect">
            <a:avLst/>
          </a:prstGeom>
          <a:solidFill>
            <a:srgbClr val="FAFAFA"/>
          </a:solidFill>
          <a:ln w="12700">
            <a:solidFill>
              <a:srgbClr val="BDBDBD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57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[待替换：Android Studio 项目包结构树截图]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5F0E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4" name="Text 2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3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系统架构</a:t>
            </a:r>
            <a:endParaRPr lang="en-US" sz="2800" dirty="0"/>
          </a:p>
        </p:txBody>
      </p:sp>
      <p:pic>
        <p:nvPicPr>
          <p:cNvPr id="5" name="Image 0" descr="/Users/mac/Downloads/学业/移动应用开发课设/https---github.com-aloiziokelly49-lang-Android/aiwrittenagent/diagrams/arch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31520" y="1188720"/>
            <a:ext cx="768096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5F0E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4" name="Text 2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3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功能点 1：多格式文件上传与文档浏览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SAF 单/多文件选择 → MIME+扩展名两级分类 → 按格式路由展示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411480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PDF：PdfRenderer + RecyclerView 逐页高清渲染，滑出即回收 Bitmap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TXT：ScrollView 直接展示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图片：展示 + 一键 OCR 提取文字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PDF 加载失败 → 自动复制到缓存目录兜底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840480"/>
            <a:ext cx="41148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57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关键文件：</a:t>
            </a:r>
            <a:r>
              <a:rPr lang="en-US" sz="1100" dirty="0">
                <a:solidFill>
                  <a:srgbClr val="757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HomeFragment.java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57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DocumentViewerActivity.java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57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PdfViewerAdapter.java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0" y="1371600"/>
            <a:ext cx="3657600" cy="1097280"/>
          </a:xfrm>
          <a:prstGeom prst="rect">
            <a:avLst/>
          </a:prstGeom>
          <a:solidFill>
            <a:srgbClr val="FAFAFA"/>
          </a:solidFill>
          <a:ln w="12700">
            <a:solidFill>
              <a:srgbClr val="BDBDBD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57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[待替换：文件选择器界面截图]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0" y="2651760"/>
            <a:ext cx="3657600" cy="1097280"/>
          </a:xfrm>
          <a:prstGeom prst="rect">
            <a:avLst/>
          </a:prstGeom>
          <a:solidFill>
            <a:srgbClr val="FAFAFA"/>
          </a:solidFill>
          <a:ln w="12700">
            <a:solidFill>
              <a:srgbClr val="BDBDBD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57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[待替换：PDF浏览界面截图]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[待替换：代码截图 - PdfDocumentLoader.java:62-121]</a:t>
            </a: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[待替换：代码截图 - PdfViewerAdapter.java:104-172]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5F0E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4" name="Text 2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3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功能点 2：OCR 文字识别（双引擎）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百度云端优先 + Tesseract 离线兜底</a:t>
            </a:r>
            <a:endParaRPr lang="en-US" sz="1600" dirty="0"/>
          </a:p>
        </p:txBody>
      </p:sp>
      <p:pic>
        <p:nvPicPr>
          <p:cNvPr id="6" name="Image 0" descr="/Users/mac/Downloads/学业/移动应用开发课设/https---github.com-aloiziokelly49-lang-Android/aiwrittenagent/diagrams/ocr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48640" y="1645920"/>
            <a:ext cx="5303520" cy="2743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0" y="1645920"/>
            <a:ext cx="256032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5757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关键文件：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757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CameraOcrActivity.java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757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OcrRecognizer.java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757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BaiduOcrHelper.java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17920" y="3017520"/>
            <a:ext cx="2560320" cy="914400"/>
          </a:xfrm>
          <a:prstGeom prst="rect">
            <a:avLst/>
          </a:prstGeom>
          <a:solidFill>
            <a:srgbClr val="FAFAFA"/>
          </a:solidFill>
          <a:ln w="12700">
            <a:solidFill>
              <a:srgbClr val="BDBDBD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57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[待替换：相机OCR界面截图]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[待替换：代码截图 - OcrRecognizer.java:19-48]</a:t>
            </a: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[待替换：代码截图 - BaiduOcrHelper.java:64-69]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5F0E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4" name="Text 2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3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功能点 3：手写渲染引擎（核心功能）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自研 Android Canvas 逐字渲染引擎 — 267 行纯手写逻辑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029200" cy="1828800"/>
          </a:xfrm>
          <a:prstGeom prst="rect">
            <a:avLst/>
          </a:prstGeom>
          <a:solidFill>
            <a:srgbClr val="263238"/>
          </a:solidFill>
        </p:spPr>
      </p:sp>
      <p:sp>
        <p:nvSpPr>
          <p:cNvPr id="7" name="Text 5"/>
          <p:cNvSpPr/>
          <p:nvPr/>
        </p:nvSpPr>
        <p:spPr>
          <a:xfrm>
            <a:off x="731520" y="1737360"/>
            <a:ext cx="466344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 rnd = new Random(text.hashCode());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dx = (rnd.nextFloat() - 0.5f) * 2f * jitterScale;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 = (rnd.nextFloat() - 0.5f) * 2f * jitterScale * 0.6f;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canvas.drawText(glyph, cursorX+dx, cursorY+dy, paint);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0" y="1645920"/>
            <a:ext cx="283464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7 项排版参数：字号/字距/行距/抖动/笔触/纸张/字体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 种笔触 × 4 色纸张 × 4 种纹理 = 16 种组合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 款中文手写字体动态加载（.ttf Typeface）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DataBinding 双向绑定 + 200ms 防抖 → 实时预览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749040"/>
            <a:ext cx="3840480" cy="914400"/>
          </a:xfrm>
          <a:prstGeom prst="rect">
            <a:avLst/>
          </a:prstGeom>
          <a:solidFill>
            <a:srgbClr val="FAFAFA"/>
          </a:solidFill>
          <a:ln w="12700">
            <a:solidFill>
              <a:srgbClr val="BDBDBD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57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[待替换：手写编辑器主界面截图]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754880" y="3749040"/>
            <a:ext cx="4023360" cy="914400"/>
          </a:xfrm>
          <a:prstGeom prst="rect">
            <a:avLst/>
          </a:prstGeom>
          <a:solidFill>
            <a:srgbClr val="FAFAFA"/>
          </a:solidFill>
          <a:ln w="12700">
            <a:solidFill>
              <a:srgbClr val="BDBDBD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57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[待替换：笔触/纸张/字体对比效果]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[待替换：代码 - HandwritingEngine.java:131-195] [待替换：代码 - HandwashingEngine.java:168-179] [待替换：代码 - HandwriteEditorViewModel.java:168-171]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5F0E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4" name="Text 2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3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功能点 4：语音采集与实时转写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548640" y="1188720"/>
          <a:ext cx="8046720" cy="1719072"/>
        </p:xfrm>
        <a:graphic>
          <a:graphicData uri="http://schemas.openxmlformats.org/drawingml/2006/table">
            <a:tbl>
              <a:tblPr/>
              <a:tblGrid>
                <a:gridCol w="914400"/>
                <a:gridCol w="4389120"/>
                <a:gridCol w="2743200"/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237E"/>
                          </a:solidFill>
                        </a:rPr>
                        <a:t>优先级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237E"/>
                          </a:solidFill>
                        </a:rPr>
                        <a:t>方案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237E"/>
                          </a:solidFill>
                        </a:rPr>
                        <a:t>特点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SpeechRecognizer + EXTRA_PARTIAL_RESULTS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边录边转写，实时出字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57F17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前台Service录音 → 百度ASR转写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录完再转，准确率高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32F2F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弹出键盘 → 输入法语音按钮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零配置通用兜底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292608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保活机制：前台 Service + startForeground 通知 → 息屏/切后台录音不中断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329184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数据流：EventBus → EditorVoiceCaptureController → EditorVoiceState → DataBinding → 悬浮面板实时更新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3749040"/>
            <a:ext cx="3840480" cy="822960"/>
          </a:xfrm>
          <a:prstGeom prst="rect">
            <a:avLst/>
          </a:prstGeom>
          <a:solidFill>
            <a:srgbClr val="FAFAFA"/>
          </a:solidFill>
          <a:ln w="12700">
            <a:solidFill>
              <a:srgbClr val="BDBDBD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57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[待替换：语音悬浮面板展开截图]</a:t>
            </a:r>
            <a:endParaRPr lang="en-US" sz="800" dirty="0"/>
          </a:p>
        </p:txBody>
      </p:sp>
      <p:sp>
        <p:nvSpPr>
          <p:cNvPr id="5" name="Text 6"/>
          <p:cNvSpPr/>
          <p:nvPr/>
        </p:nvSpPr>
        <p:spPr>
          <a:xfrm>
            <a:off x="4754880" y="3749040"/>
            <a:ext cx="4023360" cy="822960"/>
          </a:xfrm>
          <a:prstGeom prst="rect">
            <a:avLst/>
          </a:prstGeom>
          <a:solidFill>
            <a:srgbClr val="FAFAFA"/>
          </a:solidFill>
          <a:ln w="12700">
            <a:solidFill>
              <a:srgbClr val="BDBDBD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57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[待替换：转写完成面板截图]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[待替换：代码 - EditorVoiceCaptureController.java:66-102] [待替换：代码 - SpeechRecognizerManager.java:206-214]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5F0E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4" name="Text 2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3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功能点 5：高清预览与防 OOM 导出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分块渲染 + Canvas 拼接 + tile.recycle() 即时回收</a:t>
            </a:r>
            <a:endParaRPr lang="en-US" sz="1400" dirty="0"/>
          </a:p>
        </p:txBody>
      </p:sp>
      <p:pic>
        <p:nvPicPr>
          <p:cNvPr id="6" name="Image 0" descr="/Users/mac/Downloads/学业/移动应用开发课设/https---github.com-aloiziokelly49-lang-Android/aiwrittenagent/diagrams/tile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48640" y="1645920"/>
            <a:ext cx="4754880" cy="2926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0" y="1645920"/>
            <a:ext cx="3108960" cy="2926080"/>
          </a:xfrm>
          <a:prstGeom prst="rect">
            <a:avLst/>
          </a:prstGeom>
          <a:solidFill>
            <a:srgbClr val="E8EAF6"/>
          </a:solidFill>
        </p:spPr>
      </p:sp>
      <p:sp>
        <p:nvSpPr>
          <p:cNvPr id="8" name="Text 5"/>
          <p:cNvSpPr/>
          <p:nvPr/>
        </p:nvSpPr>
        <p:spPr>
          <a:xfrm>
            <a:off x="5852160" y="1828800"/>
            <a:ext cx="274320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关键参数</a:t>
            </a:r>
            <a:endParaRPr lang="en-US" sz="14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A4 = 2480×3508px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300dpi · 约 34MB</a:t>
            </a:r>
            <a:endParaRPr lang="en-US" sz="14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15 段/组 · 宽 1240px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tile≤4096px 高</a:t>
            </a:r>
            <a:endParaRPr lang="en-US" sz="14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D32F2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内存峰值 ≈ 37MB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对比普通渲染 100MB+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[待替换：代码 - ExportPreviewActivity.java:156-181] [待替换：代码 - ExportPreviewActivity.java:202-235]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5F0E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4" name="Text 2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3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功能点 6：Room 数据库与双分类归档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548640" y="1188720"/>
          <a:ext cx="5029200" cy="2176272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237E"/>
                          </a:solidFill>
                        </a:rPr>
                        <a:t>表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237E"/>
                          </a:solidFill>
                        </a:rPr>
                        <a:t>用途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handwrite_records</a:t>
                      </a:r>
                      <a:endParaRPr lang="en-US" sz="12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手写记录（13 字段：排版参数 + 存储路径）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drafts</a:t>
                      </a:r>
                      <a:endParaRPr lang="en-US" sz="12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OCR / 语音草稿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audio_records</a:t>
                      </a:r>
                      <a:endParaRPr lang="en-US" sz="12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录音文件元信息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tags</a:t>
                      </a:r>
                      <a:endParaRPr lang="en-US" sz="12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标签（id + name + color）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record_tag_join</a:t>
                      </a:r>
                      <a:endParaRPr lang="en-US" sz="12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多对多关联中间表 (record_id, tag_id)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943600" y="1188720"/>
            <a:ext cx="28346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设计要点</a:t>
            </a:r>
            <a:endParaRPr lang="en-US" sz="14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UUID 主键（离线生成无冲突）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文件夹 + 多标签双重分类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增量迁移 v1→v2→v3→v4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ALTER TABLE + DEFAULT 无损升级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3474720"/>
            <a:ext cx="3840480" cy="1005840"/>
          </a:xfrm>
          <a:prstGeom prst="rect">
            <a:avLst/>
          </a:prstGeom>
          <a:solidFill>
            <a:srgbClr val="FAFAFA"/>
          </a:solidFill>
          <a:ln w="12700">
            <a:solidFill>
              <a:srgbClr val="BDBDBD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57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[待替换：历史档案室列表截图]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754880" y="3474720"/>
            <a:ext cx="4023360" cy="1005840"/>
          </a:xfrm>
          <a:prstGeom prst="rect">
            <a:avLst/>
          </a:prstGeom>
          <a:solidFill>
            <a:srgbClr val="FAFAFA"/>
          </a:solidFill>
          <a:ln w="12700">
            <a:solidFill>
              <a:srgbClr val="BDBDBD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57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[待替换：标签管理界面截图]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[待替换：代码 - AppDatabase.java:46-70] [待替换：代码 - CloudInkRepository.java:92-108]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5F0E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4" name="Text 2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3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功能点 7：DataStore 登录与偏好记忆</a:t>
            </a:r>
            <a:endParaRPr lang="en-US" sz="2800" dirty="0"/>
          </a:p>
        </p:txBody>
      </p:sp>
      <p:pic>
        <p:nvPicPr>
          <p:cNvPr id="5" name="Image 0" descr="/Users/mac/Downloads/学业/移动应用开发课设/https---github.com-aloiziokelly49-lang-Android/aiwrittenagent/diagrams/login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48640" y="1188720"/>
            <a:ext cx="4114800" cy="2011680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5029200" y="1188720"/>
          <a:ext cx="3749040" cy="2029968"/>
        </p:xfrm>
        <a:graphic>
          <a:graphicData uri="http://schemas.openxmlformats.org/drawingml/2006/table">
            <a:tbl>
              <a:tblPr/>
              <a:tblGrid>
                <a:gridCol w="640080"/>
                <a:gridCol w="2194560"/>
                <a:gridCol w="914400"/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237E"/>
                          </a:solidFill>
                        </a:rPr>
                        <a:t>类别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37E"/>
                          </a:solidFill>
                        </a:rPr>
                        <a:t>Key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237E"/>
                          </a:solidFill>
                        </a:rPr>
                        <a:t>默认值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登录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is_logged_in</a:t>
                      </a:r>
                      <a:endParaRPr lang="en-US" sz="10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false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登录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user_phone</a:t>
                      </a:r>
                      <a:endParaRPr lang="en-US" sz="10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""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登录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is_first_login</a:t>
                      </a:r>
                      <a:endParaRPr lang="en-US" sz="10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true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排版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char_spacing / line_spacing / jitter</a:t>
                      </a:r>
                      <a:endParaRPr lang="en-US" sz="10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0.5 / 1.5 / 0.3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排版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paper_index / pen_type / font_path</a:t>
                      </a:r>
                      <a:endParaRPr lang="en-US" sz="10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 / fountain / ...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用户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display_name</a:t>
                      </a:r>
                      <a:endParaRPr lang="en-US" sz="10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""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347472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5757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共 11 个 Key（登录 3 + 排版 7 + 显示名 1）   |   两层默认值：DataStore 层 → 覆盖 HandwritingParams 运行时层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[待替换：代码 - AppPreferences.java:19-39] [待替换：代码 - HandwriteEditorViewModel.java:78-91]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5F0E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4" name="Text 2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3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核心技术亮点总结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1A237E"/>
          </a:solidFill>
        </p:spPr>
      </p:sp>
      <p:sp>
        <p:nvSpPr>
          <p:cNvPr id="6" name="Text 4"/>
          <p:cNvSpPr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28016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自研渲染引擎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6002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5757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267行纯Canvas手写引擎，非WebView方案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457200" cy="457200"/>
          </a:xfrm>
          <a:prstGeom prst="ellipse">
            <a:avLst/>
          </a:prstGeom>
          <a:solidFill>
            <a:srgbClr val="1A237E"/>
          </a:solidFill>
        </p:spPr>
      </p:sp>
      <p:sp>
        <p:nvSpPr>
          <p:cNvPr id="10" name="Text 8"/>
          <p:cNvSpPr/>
          <p:nvPr/>
        </p:nvSpPr>
        <p:spPr>
          <a:xfrm>
            <a:off x="4754880" y="13716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49240" y="128016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确定性抖动算法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49240" y="16002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5757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Random(text.hashCode()) 可复现随机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286000"/>
            <a:ext cx="457200" cy="457200"/>
          </a:xfrm>
          <a:prstGeom prst="ellipse">
            <a:avLst/>
          </a:prstGeom>
          <a:solidFill>
            <a:srgbClr val="1A237E"/>
          </a:solidFill>
        </p:spPr>
      </p:sp>
      <p:sp>
        <p:nvSpPr>
          <p:cNvPr id="14" name="Text 12"/>
          <p:cNvSpPr/>
          <p:nvPr/>
        </p:nvSpPr>
        <p:spPr>
          <a:xfrm>
            <a:off x="548640" y="22860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219456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双引擎OCR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25146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5757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百度云端+Tesseract离线，自动切换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286000"/>
            <a:ext cx="457200" cy="457200"/>
          </a:xfrm>
          <a:prstGeom prst="ellipse">
            <a:avLst/>
          </a:prstGeom>
          <a:solidFill>
            <a:srgbClr val="1A237E"/>
          </a:solidFill>
        </p:spPr>
      </p:sp>
      <p:sp>
        <p:nvSpPr>
          <p:cNvPr id="18" name="Text 16"/>
          <p:cNvSpPr/>
          <p:nvPr/>
        </p:nvSpPr>
        <p:spPr>
          <a:xfrm>
            <a:off x="4754880" y="22860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49240" y="219456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三层语音降级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49240" y="25146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5757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实时→文件→输入法，逐级兜底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200400"/>
            <a:ext cx="457200" cy="457200"/>
          </a:xfrm>
          <a:prstGeom prst="ellipse">
            <a:avLst/>
          </a:prstGeom>
          <a:solidFill>
            <a:srgbClr val="1A237E"/>
          </a:solidFill>
        </p:spPr>
      </p:sp>
      <p:sp>
        <p:nvSpPr>
          <p:cNvPr id="22" name="Text 20"/>
          <p:cNvSpPr/>
          <p:nvPr/>
        </p:nvSpPr>
        <p:spPr>
          <a:xfrm>
            <a:off x="548640" y="32004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310896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分块渲染防OOM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43000" y="34290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5757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15段/组 + tile.recycle()，内存峰值~37MB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200400"/>
            <a:ext cx="457200" cy="457200"/>
          </a:xfrm>
          <a:prstGeom prst="ellipse">
            <a:avLst/>
          </a:prstGeom>
          <a:solidFill>
            <a:srgbClr val="1A237E"/>
          </a:solidFill>
        </p:spPr>
      </p:sp>
      <p:sp>
        <p:nvSpPr>
          <p:cNvPr id="26" name="Text 24"/>
          <p:cNvSpPr/>
          <p:nvPr/>
        </p:nvSpPr>
        <p:spPr>
          <a:xfrm>
            <a:off x="4754880" y="32004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49240" y="310896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Room增量迁移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49240" y="34290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5757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v1→v4，ALTER TABLE无损升级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114800"/>
            <a:ext cx="457200" cy="457200"/>
          </a:xfrm>
          <a:prstGeom prst="ellipse">
            <a:avLst/>
          </a:prstGeom>
          <a:solidFill>
            <a:srgbClr val="1A237E"/>
          </a:solidFill>
        </p:spPr>
      </p:sp>
      <p:sp>
        <p:nvSpPr>
          <p:cNvPr id="30" name="Text 28"/>
          <p:cNvSpPr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43000" y="402336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DataStore偏好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43000" y="43434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5757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11 Key，两层默认值设计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4114800"/>
            <a:ext cx="457200" cy="457200"/>
          </a:xfrm>
          <a:prstGeom prst="ellipse">
            <a:avLst/>
          </a:prstGeom>
          <a:solidFill>
            <a:srgbClr val="1A237E"/>
          </a:solidFill>
        </p:spPr>
      </p:sp>
      <p:sp>
        <p:nvSpPr>
          <p:cNvPr id="34" name="Text 32"/>
          <p:cNvSpPr/>
          <p:nvPr/>
        </p:nvSpPr>
        <p:spPr>
          <a:xfrm>
            <a:off x="4754880" y="41148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49240" y="402336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零第三方PDF库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349240" y="43434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5757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纯系统API（PdfRenderer/PdfDocument）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3319</Words>
  <Application>WPS 演示</Application>
  <PresentationFormat>On-screen Show (16:9)</PresentationFormat>
  <Paragraphs>316</Paragraphs>
  <Slides>12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1" baseType="lpstr">
      <vt:lpstr>Arial</vt:lpstr>
      <vt:lpstr>宋体</vt:lpstr>
      <vt:lpstr>Wingdings</vt:lpstr>
      <vt:lpstr>Arial</vt:lpstr>
      <vt:lpstr>Arial</vt:lpstr>
      <vt:lpstr>Consolas</vt:lpstr>
      <vt:lpstr>苹方-简</vt:lpstr>
      <vt:lpstr>Consolas</vt:lpstr>
      <vt:lpstr>Consolas</vt:lpstr>
      <vt:lpstr>宋体</vt:lpstr>
      <vt:lpstr>汉仪书宋二KW</vt:lpstr>
      <vt:lpstr>Calibri</vt:lpstr>
      <vt:lpstr>Helvetica Neue</vt:lpstr>
      <vt:lpstr>微软雅黑</vt:lpstr>
      <vt:lpstr>汉仪旗黑</vt:lpstr>
      <vt:lpstr>Arial Unicode MS</vt:lpstr>
      <vt:lpstr>等线</vt:lpstr>
      <vt:lpstr>汉仪中等线KW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云墨 CloudInk — 答辩PPT</dc:title>
  <dc:creator>喻文卓</dc:creator>
  <dc:subject>PptxGenJS Presentation</dc:subject>
  <cp:lastModifiedBy>mac</cp:lastModifiedBy>
  <cp:revision>2</cp:revision>
  <dcterms:created xsi:type="dcterms:W3CDTF">2026-06-15T08:08:25Z</dcterms:created>
  <dcterms:modified xsi:type="dcterms:W3CDTF">2026-06-15T08:08:25Z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EE66DB1011FB0E10F9B22F6A8F0CF439_42</vt:lpwstr>
  </property>
  <property fmtid="{D5CDD505-2E9C-101B-9397-08002B2CF9AE}" pid="3" name="KSOProductBuildVer">
    <vt:lpwstr>2052-12.1.23141.23141</vt:lpwstr>
  </property>
</Properties>
</file>